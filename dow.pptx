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01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754FE-15A8-4638-94E9-6AA899BE888D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C7F82-4D5E-4E88-AB69-E4E57841F7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807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B87FA-F110-4F27-9A2E-C42B82C8C5B7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E33-E977-46ED-8A97-34FA0CBC1F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B87FA-F110-4F27-9A2E-C42B82C8C5B7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E33-E977-46ED-8A97-34FA0CBC1F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B87FA-F110-4F27-9A2E-C42B82C8C5B7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E33-E977-46ED-8A97-34FA0CBC1F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B87FA-F110-4F27-9A2E-C42B82C8C5B7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E33-E977-46ED-8A97-34FA0CBC1F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B87FA-F110-4F27-9A2E-C42B82C8C5B7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E33-E977-46ED-8A97-34FA0CBC1F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B87FA-F110-4F27-9A2E-C42B82C8C5B7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E33-E977-46ED-8A97-34FA0CBC1F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B87FA-F110-4F27-9A2E-C42B82C8C5B7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E33-E977-46ED-8A97-34FA0CBC1F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B87FA-F110-4F27-9A2E-C42B82C8C5B7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E33-E977-46ED-8A97-34FA0CBC1F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B87FA-F110-4F27-9A2E-C42B82C8C5B7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822FE33-E977-46ED-8A97-34FA0CBC1F8C}" type="slidenum">
              <a:rPr lang="ru-RU" smtClean="0"/>
              <a:t>‹#›</a:t>
            </a:fld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B87FA-F110-4F27-9A2E-C42B82C8C5B7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E33-E977-46ED-8A97-34FA0CBC1F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B87FA-F110-4F27-9A2E-C42B82C8C5B7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2FE33-E977-46ED-8A97-34FA0CBC1F8C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BFB87FA-F110-4F27-9A2E-C42B82C8C5B7}" type="datetimeFigureOut">
              <a:rPr lang="ru-RU" smtClean="0"/>
              <a:t>26.03.2015</a:t>
            </a:fld>
            <a:endParaRPr lang="ru-R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822FE33-E977-46ED-8A97-34FA0CBC1F8C}" type="slidenum">
              <a:rPr lang="ru-RU" smtClean="0"/>
              <a:t>‹#›</a:t>
            </a:fld>
            <a:endParaRPr lang="ru-RU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:\фотошоп\images (2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539813"/>
            <a:ext cx="2304256" cy="176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:\фотошоп\images (3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87413"/>
            <a:ext cx="2448272" cy="1785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F:\фотошоп\adobe-photoshop-min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474" y="1766988"/>
            <a:ext cx="4476750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 rot="10800000" flipV="1">
            <a:off x="732281" y="5539137"/>
            <a:ext cx="74888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/>
              <a:t>Тема:</a:t>
            </a:r>
            <a:r>
              <a:rPr lang="ru-RU" b="1" dirty="0"/>
              <a:t> </a:t>
            </a:r>
            <a:r>
              <a:rPr lang="ru-RU" sz="3200" dirty="0"/>
              <a:t>Введение в компьютерную графику</a:t>
            </a:r>
          </a:p>
        </p:txBody>
      </p:sp>
    </p:spTree>
    <p:extLst>
      <p:ext uri="{BB962C8B-B14F-4D97-AF65-F5344CB8AC3E}">
        <p14:creationId xmlns:p14="http://schemas.microsoft.com/office/powerpoint/2010/main" val="2598362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>
        <p14:doors dir="vert"/>
        <p:sndAc>
          <p:stSnd>
            <p:snd r:embed="rId2" name="wind.wav"/>
          </p:stSnd>
        </p:sndAc>
      </p:transition>
    </mc:Choice>
    <mc:Fallback>
      <p:transition spd="slow">
        <p:fade/>
        <p:sndAc>
          <p:stSnd>
            <p:snd r:embed="rId2" name="wind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08224" y="1268760"/>
            <a:ext cx="7200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i="1" dirty="0"/>
              <a:t>Цель</a:t>
            </a:r>
            <a:r>
              <a:rPr lang="ru-RU" sz="2400" i="1" dirty="0"/>
              <a:t> – изучить основные задачи и их определения, историю развития, виды КГ.</a:t>
            </a:r>
          </a:p>
          <a:p>
            <a:r>
              <a:rPr lang="ru-RU" sz="2400" b="1" i="1" dirty="0"/>
              <a:t>Рассматриваемые вопросы:</a:t>
            </a:r>
          </a:p>
          <a:p>
            <a:pPr lvl="0"/>
            <a:r>
              <a:rPr lang="ru-RU" sz="2400" i="1" dirty="0"/>
              <a:t>Определение и основные задачи компьютерной графики. </a:t>
            </a:r>
          </a:p>
          <a:p>
            <a:pPr lvl="0"/>
            <a:r>
              <a:rPr lang="ru-RU" sz="2400" i="1" dirty="0"/>
              <a:t>Области применения компьютерной графики. </a:t>
            </a:r>
          </a:p>
          <a:p>
            <a:pPr lvl="0"/>
            <a:r>
              <a:rPr lang="ru-RU" sz="2400" i="1" dirty="0"/>
              <a:t>История развития компьютерной графики. </a:t>
            </a:r>
          </a:p>
          <a:p>
            <a:pPr lvl="0"/>
            <a:r>
              <a:rPr lang="ru-RU" sz="2400" i="1" dirty="0"/>
              <a:t>Виды компьютерной графики.</a:t>
            </a:r>
          </a:p>
        </p:txBody>
      </p:sp>
    </p:spTree>
    <p:extLst>
      <p:ext uri="{BB962C8B-B14F-4D97-AF65-F5344CB8AC3E}">
        <p14:creationId xmlns:p14="http://schemas.microsoft.com/office/powerpoint/2010/main" val="1366921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97632" y="764704"/>
            <a:ext cx="763284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/>
              <a:t>Определение и основные задачи компьютерной графики</a:t>
            </a:r>
          </a:p>
          <a:p>
            <a:r>
              <a:rPr lang="ru-RU" sz="1600" dirty="0"/>
              <a:t>При обработке информации, связанной с изображением на мониторе, принято выделять три основных направления: распознавание образов, обработку изображений и машинную графику.</a:t>
            </a:r>
          </a:p>
          <a:p>
            <a:r>
              <a:rPr lang="ru-RU" sz="1600" dirty="0"/>
              <a:t>Основная задача распознавания образов состоит в преобразовании уже имеющегося изображения на формально понятный язык символов. </a:t>
            </a:r>
            <a:r>
              <a:rPr lang="ru-RU" sz="1600" b="1" dirty="0"/>
              <a:t>Распознавание образов или система технического зрения (</a:t>
            </a:r>
            <a:r>
              <a:rPr lang="en-US" sz="1600" b="1" dirty="0"/>
              <a:t>COMPUTER VISION</a:t>
            </a:r>
            <a:r>
              <a:rPr lang="ru-RU" sz="1600" b="1" dirty="0"/>
              <a:t>)</a:t>
            </a:r>
            <a:r>
              <a:rPr lang="ru-RU" sz="1600" dirty="0"/>
              <a:t> – это совокупность методов, позволяющих получить описание изображения, поданного на вход, либо отнести заданное изображение к некоторому классу (так поступают, например, при сортировке почты). Одной из задач </a:t>
            </a:r>
            <a:r>
              <a:rPr lang="en-US" sz="1600" dirty="0"/>
              <a:t>COMPUTER VISION</a:t>
            </a:r>
            <a:r>
              <a:rPr lang="ru-RU" sz="1600" dirty="0"/>
              <a:t> является так называемая </a:t>
            </a:r>
            <a:r>
              <a:rPr lang="ru-RU" sz="1600" dirty="0" err="1"/>
              <a:t>скелетизация</a:t>
            </a:r>
            <a:r>
              <a:rPr lang="ru-RU" sz="1600" dirty="0"/>
              <a:t> объектов, при которой восстанавливается некая основа объекта, его «скелет».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83568" y="4077072"/>
            <a:ext cx="698477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/>
              <a:t>Обработка</a:t>
            </a:r>
            <a:r>
              <a:rPr lang="en-US" sz="1600" b="1" dirty="0"/>
              <a:t> </a:t>
            </a:r>
            <a:r>
              <a:rPr lang="en-US" sz="1600" b="1" dirty="0" err="1"/>
              <a:t>изображений</a:t>
            </a:r>
            <a:r>
              <a:rPr lang="en-US" sz="1600" b="1" dirty="0"/>
              <a:t> (IMAGE PROCESSING)</a:t>
            </a:r>
            <a:r>
              <a:rPr lang="en-US" sz="1600" dirty="0"/>
              <a:t> </a:t>
            </a:r>
            <a:r>
              <a:rPr lang="en-US" sz="1600" dirty="0" err="1"/>
              <a:t>рассматривает</a:t>
            </a:r>
            <a:r>
              <a:rPr lang="en-US" sz="1600" dirty="0"/>
              <a:t> </a:t>
            </a:r>
            <a:r>
              <a:rPr lang="en-US" sz="1600" dirty="0" err="1"/>
              <a:t>задачи</a:t>
            </a:r>
            <a:r>
              <a:rPr lang="en-US" sz="1600" dirty="0"/>
              <a:t> в </a:t>
            </a:r>
            <a:r>
              <a:rPr lang="en-US" sz="1600" dirty="0" err="1"/>
              <a:t>которых</a:t>
            </a:r>
            <a:r>
              <a:rPr lang="en-US" sz="1600" dirty="0"/>
              <a:t> и </a:t>
            </a:r>
            <a:r>
              <a:rPr lang="en-US" sz="1600" dirty="0" err="1"/>
              <a:t>входные</a:t>
            </a:r>
            <a:r>
              <a:rPr lang="en-US" sz="1600" dirty="0"/>
              <a:t> и </a:t>
            </a:r>
            <a:r>
              <a:rPr lang="en-US" sz="1600" dirty="0" err="1"/>
              <a:t>выходные</a:t>
            </a:r>
            <a:r>
              <a:rPr lang="en-US" sz="1600" dirty="0"/>
              <a:t> </a:t>
            </a:r>
            <a:r>
              <a:rPr lang="en-US" sz="1600" dirty="0" err="1"/>
              <a:t>данные</a:t>
            </a:r>
            <a:r>
              <a:rPr lang="en-US" sz="1600" dirty="0"/>
              <a:t> </a:t>
            </a:r>
            <a:r>
              <a:rPr lang="en-US" sz="1600" dirty="0" err="1"/>
              <a:t>являются</a:t>
            </a:r>
            <a:r>
              <a:rPr lang="en-US" sz="1600" dirty="0"/>
              <a:t> </a:t>
            </a:r>
            <a:r>
              <a:rPr lang="en-US" sz="1600" dirty="0" err="1"/>
              <a:t>изображениями</a:t>
            </a:r>
            <a:r>
              <a:rPr lang="en-US" sz="1600" dirty="0"/>
              <a:t>. </a:t>
            </a:r>
            <a:r>
              <a:rPr lang="ru-RU" sz="1600" dirty="0"/>
              <a:t>Например, передача изображения с устранением шумов и сжатием данных, переход от одного вида изображения к другому (от цветного к черно–белому) и т.д. Таким образом, под обработкой изображений понимают деятельность над изображениями (преобразование изображений). Задачей обработки изображений может быть как улучшение в зависимости от определенного критерия (реставрация, восстановление), так и специальное преобразование, кардинально изменяющее изображения. </a:t>
            </a:r>
          </a:p>
        </p:txBody>
      </p:sp>
    </p:spTree>
    <p:extLst>
      <p:ext uri="{BB962C8B-B14F-4D97-AF65-F5344CB8AC3E}">
        <p14:creationId xmlns:p14="http://schemas.microsoft.com/office/powerpoint/2010/main" val="4092072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153850"/>
              </p:ext>
            </p:extLst>
          </p:nvPr>
        </p:nvGraphicFramePr>
        <p:xfrm>
          <a:off x="251520" y="836712"/>
          <a:ext cx="8449032" cy="4176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Picture" r:id="rId3" imgW="5571744" imgH="2420112" progId="Word.Picture.8">
                  <p:embed/>
                </p:oleObj>
              </mc:Choice>
              <mc:Fallback>
                <p:oleObj name="Picture" r:id="rId3" imgW="5571744" imgH="2420112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836712"/>
                        <a:ext cx="8449032" cy="4176464"/>
                      </a:xfrm>
                      <a:prstGeom prst="rect">
                        <a:avLst/>
                      </a:prstGeom>
                      <a:gradFill flip="none" rotWithShape="1">
                        <a:gsLst>
                          <a:gs pos="0">
                            <a:srgbClr val="FF3399"/>
                          </a:gs>
                          <a:gs pos="25000">
                            <a:srgbClr val="FF6633"/>
                          </a:gs>
                          <a:gs pos="50000">
                            <a:srgbClr val="FFFF00"/>
                          </a:gs>
                          <a:gs pos="75000">
                            <a:srgbClr val="01A78F"/>
                          </a:gs>
                          <a:gs pos="100000">
                            <a:srgbClr val="3366FF"/>
                          </a:gs>
                        </a:gsLst>
                        <a:lin ang="13500000" scaled="1"/>
                        <a:tileRect/>
                      </a:gra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59632" y="5369521"/>
            <a:ext cx="66247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</a:rPr>
              <a:t>При обработке изображений существует следующие группы задач:</a:t>
            </a:r>
            <a:endParaRPr kumimoji="0" lang="ru-RU" alt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408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23528" y="188640"/>
            <a:ext cx="856895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Ограничимся работой только с цифровым изображением. Цифровые преобразования по цели преобразования можно разделить на два типа:</a:t>
            </a:r>
          </a:p>
          <a:p>
            <a:pPr lvl="0"/>
            <a:r>
              <a:rPr lang="ru-RU" b="1" dirty="0"/>
              <a:t>реставрация изображения</a:t>
            </a:r>
            <a:r>
              <a:rPr lang="ru-RU" dirty="0"/>
              <a:t> </a:t>
            </a:r>
            <a:r>
              <a:rPr lang="ru-RU" dirty="0">
                <a:sym typeface="Symbol"/>
              </a:rPr>
              <a:t></a:t>
            </a:r>
            <a:r>
              <a:rPr lang="ru-RU" dirty="0"/>
              <a:t> компенсирование имеющегося искажения (например, плохие условия фотосъемки);</a:t>
            </a:r>
          </a:p>
          <a:p>
            <a:pPr lvl="0"/>
            <a:r>
              <a:rPr lang="ru-RU" b="1" dirty="0"/>
              <a:t>улучшение изображения </a:t>
            </a:r>
            <a:r>
              <a:rPr lang="ru-RU" dirty="0">
                <a:sym typeface="Symbol"/>
              </a:rPr>
              <a:t></a:t>
            </a:r>
            <a:r>
              <a:rPr lang="ru-RU" dirty="0"/>
              <a:t> это искажение изображения с целью улучшения визуального восприятия или для преобразования в форму, удобную для дальнейшей обработки.</a:t>
            </a:r>
          </a:p>
          <a:p>
            <a:r>
              <a:rPr lang="ru-RU" b="1" dirty="0"/>
              <a:t>Компьютерная (машинная) графика (</a:t>
            </a:r>
            <a:r>
              <a:rPr lang="en-US" b="1" dirty="0"/>
              <a:t>COMPUTER GRAPHICS</a:t>
            </a:r>
            <a:r>
              <a:rPr lang="ru-RU" b="1" dirty="0"/>
              <a:t>)</a:t>
            </a:r>
            <a:r>
              <a:rPr lang="ru-RU" dirty="0"/>
              <a:t> воспроизводит изображение в случае, когда исходной является информация неизобразительной природы. Например, визуализация экспериментальных данных в виде графиков, гистограмм или диаграмм, вывод информации на экран компьютерных игр, синтез сцен на тренажерах.</a:t>
            </a:r>
          </a:p>
          <a:p>
            <a:r>
              <a:rPr lang="ru-RU" dirty="0"/>
              <a:t>Компьютерная графика в настоящее время сформировалась как наука об аппаратном и программном обеспечении для разнообразных изображений от простых чертежей до реалистичных образов естественных объектов. Компьютерная графика используется почти во всех научных и инженерных дисциплинах для наглядности и восприятия, передачи информации. Применяется в медицине, рекламном бизнесе, индустрии развлечений и т. д. Без компьютерной графики не обходится ни одна современная программа. Работа над графикой занимает до 90% рабочего времени программистских коллективов, выпускающих программы массового применения.</a:t>
            </a:r>
          </a:p>
        </p:txBody>
      </p:sp>
    </p:spTree>
    <p:extLst>
      <p:ext uri="{BB962C8B-B14F-4D97-AF65-F5344CB8AC3E}">
        <p14:creationId xmlns:p14="http://schemas.microsoft.com/office/powerpoint/2010/main" val="33624436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692696"/>
            <a:ext cx="85689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Конечным продуктом компьютерной графики является изображение. Это изображение может использоваться в различных сферах, например, оно может быть техническим чертежом, иллюстрацией с изображением детали в руководстве по эксплуатации, простой диаграммой, архитектурным видом предполагаемой конструкции или проектным заданием, рекламной иллюстрацией или кадром из мультфильма. </a:t>
            </a:r>
          </a:p>
          <a:p>
            <a:r>
              <a:rPr lang="ru-RU" b="1" u="sng" dirty="0"/>
              <a:t>Компьютерная графика</a:t>
            </a:r>
            <a:r>
              <a:rPr lang="ru-RU" dirty="0"/>
              <a:t> – это наука, предметом изучения которой является создание, хранение и обработка моделей и их изображений с помощью ЭВМ, т.е. это раздел информатики, который занимается проблемами получения различных изображений (рисунков, чертежей, мультипликации) на компьютере. </a:t>
            </a:r>
          </a:p>
          <a:p>
            <a:r>
              <a:rPr lang="ru-RU" dirty="0"/>
              <a:t>В компьютерной графике рассматриваются следующие задачи:</a:t>
            </a:r>
          </a:p>
          <a:p>
            <a:pPr lvl="0"/>
            <a:r>
              <a:rPr lang="ru-RU" dirty="0"/>
              <a:t>представление изображения в компьютерной графике; </a:t>
            </a:r>
          </a:p>
          <a:p>
            <a:pPr lvl="0"/>
            <a:r>
              <a:rPr lang="ru-RU" dirty="0"/>
              <a:t>подготовка изображения к визуализации; </a:t>
            </a:r>
          </a:p>
          <a:p>
            <a:pPr lvl="0"/>
            <a:r>
              <a:rPr lang="ru-RU" dirty="0"/>
              <a:t>создание изображения; </a:t>
            </a:r>
          </a:p>
          <a:p>
            <a:pPr lvl="0"/>
            <a:r>
              <a:rPr lang="ru-RU" dirty="0"/>
              <a:t>осуществление действий с изображением. </a:t>
            </a:r>
          </a:p>
          <a:p>
            <a:r>
              <a:rPr lang="ru-RU" dirty="0"/>
              <a:t>Под компьютерной графикой обычно понимают автоматизацию процессов подготовки, преобразования, хранения и воспроизведения графической информации с помощью компьютера. Под графической информацией понимаются модели объектов и их изображения. </a:t>
            </a:r>
          </a:p>
        </p:txBody>
      </p:sp>
    </p:spTree>
    <p:extLst>
      <p:ext uri="{BB962C8B-B14F-4D97-AF65-F5344CB8AC3E}">
        <p14:creationId xmlns:p14="http://schemas.microsoft.com/office/powerpoint/2010/main" val="3790762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3184" y="548680"/>
            <a:ext cx="849694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История  развития компьютерной (машинной) графики</a:t>
            </a:r>
          </a:p>
          <a:p>
            <a:r>
              <a:rPr lang="ru-RU" dirty="0"/>
              <a:t>Компьютерная графика насчитывает в своем развитии не более десятка лет, а ее коммерческим приложениям – и того меньше. </a:t>
            </a:r>
            <a:r>
              <a:rPr lang="ru-RU" b="1" dirty="0" err="1"/>
              <a:t>Андриес</a:t>
            </a:r>
            <a:r>
              <a:rPr lang="ru-RU" b="1" dirty="0"/>
              <a:t> </a:t>
            </a:r>
            <a:r>
              <a:rPr lang="ru-RU" b="1" dirty="0" err="1"/>
              <a:t>ван</a:t>
            </a:r>
            <a:r>
              <a:rPr lang="ru-RU" b="1" dirty="0"/>
              <a:t> Дам</a:t>
            </a:r>
            <a:r>
              <a:rPr lang="ru-RU" dirty="0"/>
              <a:t> считается одним из отцов компьютерной графики, а его книги – фундаментальными учебниками по всему спектру технологий, положенных в основу машинной графики. Также в этой области известен </a:t>
            </a:r>
            <a:r>
              <a:rPr lang="ru-RU" b="1" dirty="0" err="1"/>
              <a:t>Айвэн</a:t>
            </a:r>
            <a:r>
              <a:rPr lang="ru-RU" b="1" dirty="0"/>
              <a:t> Сазерленд</a:t>
            </a:r>
            <a:r>
              <a:rPr lang="ru-RU" dirty="0"/>
              <a:t>, чья докторская диссертация явилась теоретической основой машинной графики. </a:t>
            </a:r>
          </a:p>
          <a:p>
            <a:r>
              <a:rPr lang="ru-RU" dirty="0"/>
              <a:t>До недавнего времени экспериментирование по использованию возможностей интерактивной машинной графики было привилегией лишь небольшому количеству специалистов, в основном ученые и инженеры, занимающиеся вопросами автоматизации проектирования, анализа данных и математического моделирования. Теперь же исследование реальных и воображаемых миров через «призму» компьютеров стало доступно гораздо более широкому кругу людей. </a:t>
            </a:r>
          </a:p>
        </p:txBody>
      </p:sp>
      <p:pic>
        <p:nvPicPr>
          <p:cNvPr id="3074" name="Picture 2" descr="F:\фотошоп\imag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4653136"/>
            <a:ext cx="2808312" cy="1671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370642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31032" y="548680"/>
            <a:ext cx="871296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Большинство традиционных приложений машинной графики являются двумерными. В последнее время отмечается возрастающий коммерческий интерес к трехмерным приложениям. Он вызван значительным прогрессом в решении двух взаимосвязанных проблем: моделирования трехмерных сцен и построения как можно более реалистичного изображения. Например, в имитаторах полета особое значение придается времени реакции на команды, вводимые пилотом и инструктором. Чтобы создавалась иллюзия плавного движения, имитатор должен порождать чрезвычайно реалистичную картину динамически изменяющегося «мира» с частотой как минимум 30 кадров в секунду. В противоположность этому изображения, применяемые в рекламе и индустрии развлечений, вычисляют автономно, нередко в течение часов, с целью достичь максимального реализма или произвести сильное впечатление.</a:t>
            </a:r>
          </a:p>
          <a:p>
            <a:r>
              <a:rPr lang="ru-RU" dirty="0"/>
              <a:t>Развитие компьютерной графики, особенно на ее начальных этапах, в первую очередь связано с развитием технических средств и в особенности дисплеев:</a:t>
            </a:r>
          </a:p>
          <a:p>
            <a:pPr lvl="0"/>
            <a:r>
              <a:rPr lang="ru-RU" dirty="0"/>
              <a:t>произвольное сканирование луча;</a:t>
            </a:r>
          </a:p>
          <a:p>
            <a:pPr lvl="0"/>
            <a:r>
              <a:rPr lang="ru-RU" dirty="0"/>
              <a:t>растровое сканирование луча;</a:t>
            </a:r>
          </a:p>
          <a:p>
            <a:pPr lvl="0"/>
            <a:r>
              <a:rPr lang="ru-RU" dirty="0"/>
              <a:t>запоминающие трубки;</a:t>
            </a:r>
          </a:p>
          <a:p>
            <a:pPr lvl="0"/>
            <a:r>
              <a:rPr lang="ru-RU" dirty="0"/>
              <a:t>плазменная панель;</a:t>
            </a:r>
          </a:p>
          <a:p>
            <a:pPr lvl="0"/>
            <a:r>
              <a:rPr lang="ru-RU" dirty="0"/>
              <a:t>жидкокристаллические индикаторы;</a:t>
            </a:r>
          </a:p>
          <a:p>
            <a:pPr lvl="0"/>
            <a:r>
              <a:rPr lang="ru-RU" dirty="0" err="1" smtClean="0"/>
              <a:t>Электро</a:t>
            </a:r>
            <a:r>
              <a:rPr lang="en-US" dirty="0" smtClean="0"/>
              <a:t> </a:t>
            </a:r>
            <a:r>
              <a:rPr lang="ru-RU" dirty="0" err="1" smtClean="0"/>
              <a:t>люминисцентные</a:t>
            </a:r>
            <a:r>
              <a:rPr lang="ru-RU" dirty="0" smtClean="0"/>
              <a:t> </a:t>
            </a:r>
            <a:r>
              <a:rPr lang="ru-RU" dirty="0"/>
              <a:t>индикаторы;</a:t>
            </a:r>
          </a:p>
          <a:p>
            <a:pPr lvl="0"/>
            <a:r>
              <a:rPr lang="ru-RU" dirty="0"/>
              <a:t>дисплеи с эмиссией полем. </a:t>
            </a:r>
          </a:p>
        </p:txBody>
      </p:sp>
    </p:spTree>
    <p:extLst>
      <p:ext uri="{BB962C8B-B14F-4D97-AF65-F5344CB8AC3E}">
        <p14:creationId xmlns:p14="http://schemas.microsoft.com/office/powerpoint/2010/main" val="2716687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544" y="612845"/>
            <a:ext cx="84249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Произвольное сканирование луча.</a:t>
            </a:r>
            <a:r>
              <a:rPr lang="ru-RU" dirty="0"/>
              <a:t> Дисплейная графика появилась, как попытка использовать </a:t>
            </a:r>
            <a:r>
              <a:rPr lang="ru-RU" u="sng" dirty="0"/>
              <a:t>электроннолучевые трубки</a:t>
            </a:r>
            <a:r>
              <a:rPr lang="ru-RU" dirty="0"/>
              <a:t> (</a:t>
            </a:r>
            <a:r>
              <a:rPr lang="ru-RU" b="1" dirty="0"/>
              <a:t>ЭЛТ</a:t>
            </a:r>
            <a:r>
              <a:rPr lang="ru-RU" dirty="0"/>
              <a:t>) с произвольным сканированием луча для вывода изображения из ЭВМ. Как пишет </a:t>
            </a:r>
            <a:r>
              <a:rPr lang="ru-RU" dirty="0" err="1"/>
              <a:t>Ньюмен</a:t>
            </a:r>
            <a:r>
              <a:rPr lang="ru-RU" dirty="0"/>
              <a:t> "по–видимому, первой машиной, где ЭЛТ использовалась в качестве устройства вывода была ЭВМ </a:t>
            </a:r>
            <a:r>
              <a:rPr lang="ru-RU" dirty="0" err="1"/>
              <a:t>Whirlwind</a:t>
            </a:r>
            <a:r>
              <a:rPr lang="ru-RU" dirty="0"/>
              <a:t>–I (Ураган–I), изготовленная в 1950г. в Массачусетском технологическом институте. С этого эксперимента начался этап развития векторных дисплеев (дисплеев с </a:t>
            </a:r>
            <a:r>
              <a:rPr lang="ru-RU" b="1" dirty="0"/>
              <a:t>произвольным сканированием луча</a:t>
            </a:r>
            <a:r>
              <a:rPr lang="ru-RU" dirty="0"/>
              <a:t>, </a:t>
            </a:r>
            <a:r>
              <a:rPr lang="ru-RU" b="1" dirty="0"/>
              <a:t>каллиграфических</a:t>
            </a:r>
            <a:r>
              <a:rPr lang="ru-RU" dirty="0"/>
              <a:t> </a:t>
            </a:r>
            <a:r>
              <a:rPr lang="ru-RU" b="1" dirty="0"/>
              <a:t>дисплеев</a:t>
            </a:r>
            <a:r>
              <a:rPr lang="ru-RU" dirty="0"/>
              <a:t>). На профессиональном жаргоне вектором называется отрезок прямой. Отсюда и происходит название «</a:t>
            </a:r>
            <a:r>
              <a:rPr lang="ru-RU" b="1" dirty="0"/>
              <a:t>векторный дисплей</a:t>
            </a:r>
            <a:r>
              <a:rPr lang="ru-RU" dirty="0"/>
              <a:t>». </a:t>
            </a:r>
          </a:p>
        </p:txBody>
      </p:sp>
      <p:pic>
        <p:nvPicPr>
          <p:cNvPr id="4098" name="Picture 2" descr="F:\фотошоп\photosho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475167"/>
            <a:ext cx="6408712" cy="3266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7478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692696"/>
            <a:ext cx="871296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Области применения компьютерной графики</a:t>
            </a:r>
          </a:p>
          <a:p>
            <a:r>
              <a:rPr lang="ru-RU" dirty="0"/>
              <a:t>Область применения компьютерной графики не ограничивается одними художественными эффектами. Во всех отраслях науки, техники, медицины, в коммерческой и управленческой деятельности используются построенные с помощью компьютера схемы, графики, диаграммы, предназначенные для наглядного отображения разнообразной информации. Конструкторы, разрабатывая новые модели автомобилей и самолетов, используют трехмерные графические объекты, чтобы представить окончательный вид изделия. Архитекторы создают на экране монитора объемное изображение здания, и это позволяет им увидеть, как оно впишется в ландшафт.</a:t>
            </a:r>
          </a:p>
          <a:p>
            <a:r>
              <a:rPr lang="ru-RU" dirty="0"/>
              <a:t>Можно рассмотреть следующие области применения компьютерной графики.</a:t>
            </a:r>
          </a:p>
          <a:p>
            <a:r>
              <a:rPr lang="ru-RU" b="1" dirty="0"/>
              <a:t>Научная графика</a:t>
            </a:r>
            <a:endParaRPr lang="ru-RU" dirty="0"/>
          </a:p>
          <a:p>
            <a:r>
              <a:rPr lang="ru-RU" dirty="0"/>
              <a:t>Первые компьютеры использовались лишь для решения научных и производственных задач. Чтобы лучше понять полученные результаты, производили их графическую обработку, строили графики, диаграммы, чертежи рассчитанных конструкций. Первые графики на машине получали в режиме символьной печати. Затем появились специальные устройства – графопостроители (плоттеры) для вычерчивания чертежей и графиков чернильным пером на бумаге. Современная научная компьютерная графика дает возможность проводить вычислительные эксперименты с наглядным представлением их результатов.</a:t>
            </a:r>
          </a:p>
        </p:txBody>
      </p:sp>
    </p:spTree>
    <p:extLst>
      <p:ext uri="{BB962C8B-B14F-4D97-AF65-F5344CB8AC3E}">
        <p14:creationId xmlns:p14="http://schemas.microsoft.com/office/powerpoint/2010/main" val="3153701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812" y="980728"/>
            <a:ext cx="885698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Деловая графика</a:t>
            </a:r>
            <a:endParaRPr lang="ru-RU" dirty="0"/>
          </a:p>
          <a:p>
            <a:r>
              <a:rPr lang="ru-RU" dirty="0"/>
              <a:t>Деловая графика – область компьютерной графики, предназначенная для наглядного представления различных показателей работы учреждений. Плановые показатели, отчетная документация, статистические сводки – вот объекты, для которых с помощью деловой графики создаются иллюстративные материалы. Программные средства деловой графики включаются в состав электронных таблиц. </a:t>
            </a:r>
          </a:p>
          <a:p>
            <a:r>
              <a:rPr lang="ru-RU" b="1" dirty="0"/>
              <a:t>Конструкторская графика</a:t>
            </a:r>
            <a:endParaRPr lang="ru-RU" dirty="0"/>
          </a:p>
          <a:p>
            <a:r>
              <a:rPr lang="ru-RU" dirty="0"/>
              <a:t>Конструкторская графика используется в работе инженеров–конструкторов, архитекторов, изобретателей новой техники. Этот вид компьютерной графики является обязательным элементом САПР (систем автоматизации проектирования). Средствами конструкторской графики можно получать как плоские изображения (проекции, сечения), так и пространственные трехмерные изображения. </a:t>
            </a:r>
          </a:p>
          <a:p>
            <a:r>
              <a:rPr lang="ru-RU" b="1" dirty="0"/>
              <a:t>Иллюстративная графика</a:t>
            </a:r>
            <a:endParaRPr lang="ru-RU" dirty="0"/>
          </a:p>
          <a:p>
            <a:r>
              <a:rPr lang="ru-RU" dirty="0"/>
              <a:t>Иллюстративная графика – это произвольное рисование и черчение на экране компьютера. Пакеты иллюстративной графики относятся к прикладному программному обеспечению общего назначения. Простейшие программные средства иллюстративной графики называются графическими редакторами.</a:t>
            </a:r>
          </a:p>
        </p:txBody>
      </p:sp>
    </p:spTree>
    <p:extLst>
      <p:ext uri="{BB962C8B-B14F-4D97-AF65-F5344CB8AC3E}">
        <p14:creationId xmlns:p14="http://schemas.microsoft.com/office/powerpoint/2010/main" val="3403875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5196" y="404664"/>
            <a:ext cx="878497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Художественная и рекламная графика</a:t>
            </a:r>
            <a:endParaRPr lang="ru-RU" dirty="0"/>
          </a:p>
          <a:p>
            <a:r>
              <a:rPr lang="ru-RU" dirty="0"/>
              <a:t>Художественная и рекламная графика – ставшая популярной во многом благодаря телевидению. С помощью компьютера создаются рекламные ролики, мультфильмы, компьютерные игры, </a:t>
            </a:r>
            <a:r>
              <a:rPr lang="ru-RU" dirty="0" err="1"/>
              <a:t>видеоуроки</a:t>
            </a:r>
            <a:r>
              <a:rPr lang="ru-RU" dirty="0"/>
              <a:t>, </a:t>
            </a:r>
            <a:r>
              <a:rPr lang="ru-RU" dirty="0" err="1"/>
              <a:t>видеопрезентации</a:t>
            </a:r>
            <a:r>
              <a:rPr lang="ru-RU" dirty="0"/>
              <a:t>. Графические пакеты для этих целей требуют больших ресурсов компьютера по быстродействию и памяти. Отличительной особенностью этих графических пакетов является возможность создания реалистических изображений и "движущихся картинок". Получение рисунков трехмерных объектов, их повороты, приближения, удаления, деформации связано с большим объемом вычислений. Передача освещенности объекта в зависимости от положения источника света, от расположения теней, от фактуры поверхности, требует расчетов, учитывающих законы оптики. </a:t>
            </a:r>
          </a:p>
          <a:p>
            <a:r>
              <a:rPr lang="ru-RU" dirty="0"/>
              <a:t>Одним из первых известных фильмов был фильм «Звездные войны». Он был создан с помощью суперкомпьютера </a:t>
            </a:r>
            <a:r>
              <a:rPr lang="ru-RU" dirty="0" err="1"/>
              <a:t>Сгау</a:t>
            </a:r>
            <a:r>
              <a:rPr lang="ru-RU" dirty="0"/>
              <a:t>. Этапы дальнейшего развития компьютерного кинематографа можно проследить по таким фильмам, как «Терминатор-2», «Вавилон 5», и др. До недавнего времени технологии компьютерной графики использовались для спецэффектов, создания изображений экзотических чудовищ, имитации стихийных бедствий и других элементов, которые являлись лишь фоном для игры живых актеров. В 2001 году вышел на экраны полнометражный кинофильм «Финальная фантазия», в котором все, включая изображения людей, синтезировано компьютером – живые актеры только озвучили роли за кадром.</a:t>
            </a:r>
          </a:p>
        </p:txBody>
      </p:sp>
    </p:spTree>
    <p:extLst>
      <p:ext uri="{BB962C8B-B14F-4D97-AF65-F5344CB8AC3E}">
        <p14:creationId xmlns:p14="http://schemas.microsoft.com/office/powerpoint/2010/main" val="3711441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79512" y="260648"/>
            <a:ext cx="885698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Компьютерная анимация</a:t>
            </a:r>
            <a:endParaRPr lang="ru-RU" dirty="0"/>
          </a:p>
          <a:p>
            <a:r>
              <a:rPr lang="ru-RU" dirty="0"/>
              <a:t>Компьютерная анимация – это получение движущихся изображений на экране дисплее. Художник создает на экране рисунке начального и конечного положения движущихся объектов, все промежуточные состояния рассчитывает и изображает компьютер, выполняя расчеты, опирающиеся на математическое описание данного вида движения. Полученные рисунки, выводимые последовательно на экран с определенной частотой, создают иллюзию движения. Мультимедиа – это объединение высококачественного изображения на экране компьютера со звуковым сопровождением. Наибольшее распространение системы мультимедиа получили в области обучения, рекламы, развлечений.</a:t>
            </a:r>
          </a:p>
          <a:p>
            <a:r>
              <a:rPr lang="ru-RU" b="1" dirty="0"/>
              <a:t>Графика для Интернета</a:t>
            </a:r>
            <a:endParaRPr lang="ru-RU" dirty="0"/>
          </a:p>
          <a:p>
            <a:r>
              <a:rPr lang="ru-RU" dirty="0"/>
              <a:t>Появление глобальной сети Интернет привело к тому, что компьютерная графика стала занимать важное место в ней. Все больше совершенствуются способы передачи визуальной информации, разрабатываются более совершенные графические форматы, ощутимо желание использовать трехмерную графику, анимацию, весь спектр мультимедиа.</a:t>
            </a:r>
          </a:p>
        </p:txBody>
      </p:sp>
      <p:pic>
        <p:nvPicPr>
          <p:cNvPr id="5122" name="Picture 2" descr="F:\фотошоп\images (3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622" y="5013176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1442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528" y="836712"/>
            <a:ext cx="864096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Виды компьютерной графики</a:t>
            </a:r>
            <a:endParaRPr lang="ru-RU" dirty="0"/>
          </a:p>
          <a:p>
            <a:r>
              <a:rPr lang="ru-RU" dirty="0"/>
              <a:t>Различают три вида компьютерной графики. Это растровая графика, векторная графика и фрактальная графика. Они отличаются принципами формирования изображения при отображении на экране монитора или при печати на бумаге.</a:t>
            </a:r>
          </a:p>
          <a:p>
            <a:r>
              <a:rPr lang="ru-RU" b="1" dirty="0"/>
              <a:t>Растровый метод</a:t>
            </a:r>
            <a:r>
              <a:rPr lang="ru-RU" dirty="0"/>
              <a:t> – изображение представляется в виде набора окрашенных точек. Растровую графику применяют при разработке электронных (мультимедийных) и полиграфических изданий. Иллюстрации, выполненные средствами растровой графики, редко создают вручную с помощью компьютерных программ. Чаще всего для этой цели используют отсканированные иллюстрации, подготовленные художниками, или фотографии. В последнее время для ввода растровых изображений в компьютер нашли широкое применение цифровые фото– и видеокамеры.</a:t>
            </a:r>
          </a:p>
          <a:p>
            <a:r>
              <a:rPr lang="ru-RU" dirty="0"/>
              <a:t>Большинство графических редакторов, предназначенных для работы с растровыми иллюстрациями, ориентированы не столько на создание изображений, сколько на их обработку. В Интернете пока применяются только растровые иллюстрации.</a:t>
            </a:r>
          </a:p>
          <a:p>
            <a:r>
              <a:rPr lang="ru-RU" b="1" dirty="0"/>
              <a:t>Векторный метод</a:t>
            </a:r>
            <a:r>
              <a:rPr lang="ru-RU" dirty="0"/>
              <a:t> – это метод представления изображения в виде совокупности отрезков и дуг и т. д. В данном случае вектор – это набор данных, характеризующих какой–либо объект.</a:t>
            </a:r>
          </a:p>
        </p:txBody>
      </p:sp>
    </p:spTree>
    <p:extLst>
      <p:ext uri="{BB962C8B-B14F-4D97-AF65-F5344CB8AC3E}">
        <p14:creationId xmlns:p14="http://schemas.microsoft.com/office/powerpoint/2010/main" val="2555281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397074"/>
              </p:ext>
            </p:extLst>
          </p:nvPr>
        </p:nvGraphicFramePr>
        <p:xfrm>
          <a:off x="467544" y="980728"/>
          <a:ext cx="8280921" cy="54006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760307"/>
                <a:gridCol w="2760307"/>
                <a:gridCol w="2760307"/>
              </a:tblGrid>
              <a:tr h="38575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Критерий сравнения</a:t>
                      </a:r>
                      <a:endParaRPr lang="ru-RU" sz="1400" dirty="0">
                        <a:effectLst/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Растровая графика</a:t>
                      </a:r>
                      <a:endParaRPr lang="ru-RU" sz="1400" dirty="0">
                        <a:effectLst/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Векторная графика</a:t>
                      </a:r>
                      <a:endParaRPr lang="ru-RU" sz="1400">
                        <a:effectLst/>
                        <a:latin typeface="Times New Roman"/>
                      </a:endParaRPr>
                    </a:p>
                  </a:txBody>
                  <a:tcPr marL="68580" marR="68580" marT="0" marB="0"/>
                </a:tc>
              </a:tr>
              <a:tr h="115727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Способ представления изображения</a:t>
                      </a:r>
                      <a:endParaRPr lang="ru-RU" sz="1400" dirty="0">
                        <a:effectLst/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Растровое изображение строится из множества пикселей</a:t>
                      </a:r>
                      <a:endParaRPr lang="ru-RU" sz="1400" dirty="0">
                        <a:effectLst/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Векторное изображение описывается в виде последовательности команд</a:t>
                      </a:r>
                      <a:endParaRPr lang="ru-RU" sz="1400">
                        <a:effectLst/>
                        <a:latin typeface="Times New Roman"/>
                      </a:endParaRPr>
                    </a:p>
                  </a:txBody>
                  <a:tcPr marL="68580" marR="68580" marT="0" marB="0"/>
                </a:tc>
              </a:tr>
              <a:tr h="154302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Представление объектов реального мира</a:t>
                      </a:r>
                      <a:endParaRPr lang="ru-RU" sz="1400" dirty="0">
                        <a:effectLst/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Растровые рисунки эффективно используются для представления реальных образов</a:t>
                      </a:r>
                      <a:endParaRPr lang="ru-RU" sz="1400" dirty="0">
                        <a:effectLst/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Векторная графика не позволяет получать изображения фотографического качества</a:t>
                      </a:r>
                      <a:endParaRPr lang="ru-RU" sz="1400">
                        <a:effectLst/>
                        <a:latin typeface="Times New Roman"/>
                      </a:endParaRPr>
                    </a:p>
                  </a:txBody>
                  <a:tcPr marL="68580" marR="68580" marT="0" marB="0"/>
                </a:tc>
              </a:tr>
              <a:tr h="115727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Качество редактирования изображения</a:t>
                      </a:r>
                      <a:endParaRPr lang="ru-RU" sz="1400">
                        <a:effectLst/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При масштабировании и вращении растровых картинок возникают искажения</a:t>
                      </a:r>
                      <a:endParaRPr lang="ru-RU" sz="1400" dirty="0">
                        <a:effectLst/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Векторные изображения могут быть легко преобразованы без потери качества</a:t>
                      </a:r>
                      <a:endParaRPr lang="ru-RU" sz="1400" dirty="0">
                        <a:effectLst/>
                        <a:latin typeface="Times New Roman"/>
                      </a:endParaRPr>
                    </a:p>
                  </a:txBody>
                  <a:tcPr marL="68580" marR="68580" marT="0" marB="0"/>
                </a:tc>
              </a:tr>
              <a:tr h="115727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Особенности печати изображения</a:t>
                      </a:r>
                      <a:endParaRPr lang="ru-RU" sz="1400">
                        <a:effectLst/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Растровые рисунки могут быть легко напечатаны на принтерах</a:t>
                      </a:r>
                      <a:endParaRPr lang="ru-RU" sz="1400">
                        <a:effectLst/>
                        <a:latin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Векторные рисунки иногда не печатаются или выглядят на бумаге не так, как хотелось бы</a:t>
                      </a:r>
                      <a:endParaRPr lang="ru-RU" sz="1400" dirty="0">
                        <a:effectLst/>
                        <a:latin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290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133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53</TotalTime>
  <Words>1861</Words>
  <Application>Microsoft Office PowerPoint</Application>
  <PresentationFormat>Экран (4:3)</PresentationFormat>
  <Paragraphs>76</Paragraphs>
  <Slides>16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8" baseType="lpstr">
      <vt:lpstr>Поток</vt:lpstr>
      <vt:lpstr>Microsoft Word Picture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Admin</cp:lastModifiedBy>
  <cp:revision>6</cp:revision>
  <dcterms:created xsi:type="dcterms:W3CDTF">2015-03-26T08:42:02Z</dcterms:created>
  <dcterms:modified xsi:type="dcterms:W3CDTF">2015-03-26T09:35:26Z</dcterms:modified>
</cp:coreProperties>
</file>